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93" autoAdjust="0"/>
    <p:restoredTop sz="84986" autoAdjust="0"/>
  </p:normalViewPr>
  <p:slideViewPr>
    <p:cSldViewPr snapToGrid="0" snapToObjects="1">
      <p:cViewPr>
        <p:scale>
          <a:sx n="115" d="100"/>
          <a:sy n="115" d="100"/>
        </p:scale>
        <p:origin x="87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9764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097280"/>
            <a:ext cx="2743200" cy="2743200"/>
          </a:xfrm>
          <a:prstGeom prst="ellipse">
            <a:avLst/>
          </a:prstGeom>
          <a:solidFill>
            <a:srgbClr val="D4881F">
              <a:alpha val="25000"/>
            </a:srgbClr>
          </a:solidFill>
          <a:ln w="12700">
            <a:solidFill>
              <a:srgbClr val="D488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" name="Image 0" descr="/home/claude/slide_assets/ksu_logo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097280"/>
            <a:ext cx="1371600" cy="21396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77440" y="11887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0" dirty="0">
                <a:solidFill>
                  <a:srgbClr val="E8A8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PROJECT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2377440" y="150876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 Saudi Arabia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2377440" y="24231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8A8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Interactive Cultural Website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2377440" y="2971800"/>
            <a:ext cx="1371600" cy="0"/>
          </a:xfrm>
          <a:prstGeom prst="line">
            <a:avLst/>
          </a:prstGeom>
          <a:noFill/>
          <a:ln w="19050">
            <a:solidFill>
              <a:srgbClr val="D488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2377440" y="32461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8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0" y="32461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Technologies, CSC 457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377440" y="35387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8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Instructor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657600" y="353872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Sultan Alfarhood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377440" y="383133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8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657600" y="383133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Abdullah Alshammari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377440" y="412394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8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Semester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657600" y="412394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 Semester, 1447 H, 2025/2026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DDD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King Saud University   |   College of Computer and Information Sciences   |   Department of Computer Science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41148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713232" y="41148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fully dynamic Arabic cultural website that introduces visitors to the regions, landmarks, and culture of the Kingdom of Saudi Arabia.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679192"/>
            <a:ext cx="411480" cy="41148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70632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26517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Side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60120" y="28803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Home, Gallery, and Details pages with night mode and live filtering.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57200" y="3273552"/>
            <a:ext cx="411480" cy="41148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364992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60120" y="32461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Side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960120" y="34747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Session-protected dashboard with full CRUD on the regions database.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57200" y="3867912"/>
            <a:ext cx="411480" cy="41148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959352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60120" y="38404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Layer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960120" y="40690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 backend over PDO with parameterised queries and bcrypt hashing.</a:t>
            </a:r>
            <a:endParaRPr lang="en-US" sz="1050" dirty="0"/>
          </a:p>
        </p:txBody>
      </p:sp>
      <p:pic>
        <p:nvPicPr>
          <p:cNvPr id="17" name="Image 3" descr="/home/claude/slide_assets/home_nigh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2120" y="1691640"/>
            <a:ext cx="3200400" cy="17830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532120" y="3520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9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home page (night mode)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457200" y="4732020"/>
            <a:ext cx="8229600" cy="0"/>
          </a:xfrm>
          <a:prstGeom prst="line">
            <a:avLst/>
          </a:prstGeom>
          <a:noFill/>
          <a:ln w="6350">
            <a:solidFill>
              <a:srgbClr val="E0DDD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9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457  |  Discover Saudi Arabia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822960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41148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713232" y="41148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93268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9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with the four core web technologies plus PHP and MySQL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48056" y="1645920"/>
            <a:ext cx="155448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2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48056" y="1645920"/>
            <a:ext cx="1554480" cy="7315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" y="2011680"/>
            <a:ext cx="777240" cy="777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48056" y="2880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48056" y="3246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9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structure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121408" y="1645920"/>
            <a:ext cx="155448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2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2121408" y="1645920"/>
            <a:ext cx="1554480" cy="7315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0028" y="2011680"/>
            <a:ext cx="777240" cy="7772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121408" y="2880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2121408" y="3246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9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Styling &amp; layout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794760" y="1645920"/>
            <a:ext cx="155448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2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2"/>
          <p:cNvSpPr/>
          <p:nvPr/>
        </p:nvSpPr>
        <p:spPr>
          <a:xfrm>
            <a:off x="3794760" y="1645920"/>
            <a:ext cx="1554480" cy="7315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3380" y="2011680"/>
            <a:ext cx="777240" cy="7772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794760" y="2880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3794760" y="3246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9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interactivity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468112" y="1645920"/>
            <a:ext cx="155448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2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6"/>
          <p:cNvSpPr/>
          <p:nvPr/>
        </p:nvSpPr>
        <p:spPr>
          <a:xfrm>
            <a:off x="5468112" y="1645920"/>
            <a:ext cx="1554480" cy="7315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6732" y="2011680"/>
            <a:ext cx="777240" cy="7772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68112" y="2880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PHP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5468112" y="3246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9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Server-side logic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7141464" y="1645920"/>
            <a:ext cx="155448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2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Shape 20"/>
          <p:cNvSpPr/>
          <p:nvPr/>
        </p:nvSpPr>
        <p:spPr>
          <a:xfrm>
            <a:off x="7141464" y="1645920"/>
            <a:ext cx="1554480" cy="7315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0084" y="2011680"/>
            <a:ext cx="777240" cy="7772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141464" y="2880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1800" dirty="0"/>
          </a:p>
        </p:txBody>
      </p:sp>
      <p:sp>
        <p:nvSpPr>
          <p:cNvPr id="29" name="Text 22"/>
          <p:cNvSpPr/>
          <p:nvPr/>
        </p:nvSpPr>
        <p:spPr>
          <a:xfrm>
            <a:off x="7141464" y="3246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9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persistence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Hosting:  </a:t>
            </a:r>
            <a:r>
              <a:rPr lang="en-US" sz="1300" dirty="0">
                <a:solidFill>
                  <a:srgbClr val="59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deployed on InfinityFree at </a:t>
            </a:r>
            <a:r>
              <a:rPr lang="en-US" sz="1300" b="1" dirty="0">
                <a:solidFill>
                  <a:srgbClr val="A88C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capstone.alshammarii.me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466344" y="4544984"/>
            <a:ext cx="8229600" cy="0"/>
          </a:xfrm>
          <a:prstGeom prst="line">
            <a:avLst/>
          </a:prstGeom>
          <a:noFill/>
          <a:ln w="6350">
            <a:solidFill>
              <a:srgbClr val="E0DDD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25"/>
          <p:cNvSpPr/>
          <p:nvPr/>
        </p:nvSpPr>
        <p:spPr>
          <a:xfrm>
            <a:off x="466344" y="4572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9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457  |  Discover Saudi Arabia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822960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41148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713232" y="41148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93268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9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Two-tier structure: public site and protected admin area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468880" cy="2743200"/>
          </a:xfrm>
          <a:prstGeom prst="rect">
            <a:avLst/>
          </a:prstGeom>
          <a:solidFill>
            <a:srgbClr val="F4F1E8"/>
          </a:solidFill>
          <a:ln w="6350">
            <a:solidFill>
              <a:srgbClr val="E0DDD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46888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SIDE</a:t>
            </a:r>
            <a:endParaRPr lang="en-US" sz="13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4028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2194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index.php   (Home)</a:t>
            </a:r>
            <a:endParaRPr lang="en-US" sz="10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69748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60120" y="2651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gallery.php   (Regions)</a:t>
            </a:r>
            <a:endParaRPr lang="en-US" sz="10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15468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0120" y="3108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details.php   (Region)</a:t>
            </a:r>
            <a:endParaRPr lang="en-US" sz="10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611880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60120" y="3566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about.php   (About)</a:t>
            </a:r>
            <a:endParaRPr lang="en-US" sz="1050" dirty="0"/>
          </a:p>
        </p:txBody>
      </p:sp>
      <p:sp>
        <p:nvSpPr>
          <p:cNvPr id="16" name="Shape 10"/>
          <p:cNvSpPr/>
          <p:nvPr/>
        </p:nvSpPr>
        <p:spPr>
          <a:xfrm>
            <a:off x="3337560" y="1554480"/>
            <a:ext cx="2468880" cy="2743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0520" y="2057400"/>
            <a:ext cx="822960" cy="82296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337560" y="2971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1900" dirty="0"/>
          </a:p>
        </p:txBody>
      </p:sp>
      <p:sp>
        <p:nvSpPr>
          <p:cNvPr id="19" name="Shape 12"/>
          <p:cNvSpPr/>
          <p:nvPr/>
        </p:nvSpPr>
        <p:spPr>
          <a:xfrm>
            <a:off x="3611880" y="3520440"/>
            <a:ext cx="1920240" cy="320040"/>
          </a:xfrm>
          <a:prstGeom prst="rect">
            <a:avLst/>
          </a:prstGeom>
          <a:solidFill>
            <a:srgbClr val="152848"/>
          </a:solidFill>
          <a:ln w="635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3"/>
          <p:cNvSpPr/>
          <p:nvPr/>
        </p:nvSpPr>
        <p:spPr>
          <a:xfrm>
            <a:off x="3611880" y="3520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admins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3611880" y="3886200"/>
            <a:ext cx="1920240" cy="320040"/>
          </a:xfrm>
          <a:prstGeom prst="rect">
            <a:avLst/>
          </a:prstGeom>
          <a:solidFill>
            <a:srgbClr val="152848"/>
          </a:solidFill>
          <a:ln w="635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5"/>
          <p:cNvSpPr/>
          <p:nvPr/>
        </p:nvSpPr>
        <p:spPr>
          <a:xfrm>
            <a:off x="3611880" y="3886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regions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217920" y="1554480"/>
            <a:ext cx="2468880" cy="2743200"/>
          </a:xfrm>
          <a:prstGeom prst="rect">
            <a:avLst/>
          </a:prstGeom>
          <a:solidFill>
            <a:srgbClr val="F4F1E8"/>
          </a:solidFill>
          <a:ln w="6350">
            <a:solidFill>
              <a:srgbClr val="E0DDD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17"/>
          <p:cNvSpPr/>
          <p:nvPr/>
        </p:nvSpPr>
        <p:spPr>
          <a:xfrm>
            <a:off x="6217920" y="1554480"/>
            <a:ext cx="2468880" cy="457200"/>
          </a:xfrm>
          <a:prstGeom prst="rect">
            <a:avLst/>
          </a:prstGeom>
          <a:solidFill>
            <a:srgbClr val="A88C45"/>
          </a:solidFill>
          <a:ln w="12700">
            <a:solidFill>
              <a:srgbClr val="A88C4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18"/>
          <p:cNvSpPr/>
          <p:nvPr/>
        </p:nvSpPr>
        <p:spPr>
          <a:xfrm>
            <a:off x="6217920" y="1600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SIDE</a:t>
            </a:r>
            <a:endParaRPr lang="en-US" sz="130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2240280"/>
            <a:ext cx="274320" cy="27432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720840" y="2194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login.php</a:t>
            </a:r>
            <a:endParaRPr lang="en-US" sz="1050" dirty="0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2697480"/>
            <a:ext cx="274320" cy="27432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720840" y="2651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dashboard.php</a:t>
            </a:r>
            <a:endParaRPr lang="en-US" sz="1050" dirty="0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3154680"/>
            <a:ext cx="274320" cy="27432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6720840" y="3108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add.php</a:t>
            </a:r>
            <a:endParaRPr lang="en-US" sz="1050" dirty="0"/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0" y="3611880"/>
            <a:ext cx="274320" cy="274320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6720840" y="3566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update.php  /  delete.php</a:t>
            </a:r>
            <a:endParaRPr lang="en-US" sz="1050" dirty="0"/>
          </a:p>
        </p:txBody>
      </p:sp>
      <p:sp>
        <p:nvSpPr>
          <p:cNvPr id="34" name="Shape 23"/>
          <p:cNvSpPr/>
          <p:nvPr/>
        </p:nvSpPr>
        <p:spPr>
          <a:xfrm>
            <a:off x="2926080" y="2926080"/>
            <a:ext cx="41148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24"/>
          <p:cNvSpPr/>
          <p:nvPr/>
        </p:nvSpPr>
        <p:spPr>
          <a:xfrm>
            <a:off x="6217920" y="2926080"/>
            <a:ext cx="0" cy="0"/>
          </a:xfrm>
          <a:prstGeom prst="line">
            <a:avLst/>
          </a:prstGeom>
          <a:noFill/>
          <a:ln w="19050">
            <a:solidFill>
              <a:srgbClr val="A88C45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25"/>
          <p:cNvSpPr/>
          <p:nvPr/>
        </p:nvSpPr>
        <p:spPr>
          <a:xfrm>
            <a:off x="457200" y="4732020"/>
            <a:ext cx="8229600" cy="0"/>
          </a:xfrm>
          <a:prstGeom prst="line">
            <a:avLst/>
          </a:prstGeom>
          <a:noFill/>
          <a:ln w="6350">
            <a:solidFill>
              <a:srgbClr val="E0DDD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26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9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457  |  Discover Saudi Arabia</a:t>
            </a:r>
            <a:endParaRPr lang="en-US" sz="900" dirty="0"/>
          </a:p>
        </p:txBody>
      </p:sp>
      <p:sp>
        <p:nvSpPr>
          <p:cNvPr id="38" name="Text 27"/>
          <p:cNvSpPr/>
          <p:nvPr/>
        </p:nvSpPr>
        <p:spPr>
          <a:xfrm>
            <a:off x="822960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41148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713232" y="41148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Schema</a:t>
            </a:r>
            <a:endParaRPr lang="en-US" sz="2800" dirty="0"/>
          </a:p>
        </p:txBody>
      </p:sp>
      <p:pic>
        <p:nvPicPr>
          <p:cNvPr id="4" name="Image 0" descr="/home/claude/slide_assets/erd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716" y="914400"/>
            <a:ext cx="5943600" cy="349623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38912" y="4607329"/>
            <a:ext cx="8229600" cy="0"/>
          </a:xfrm>
          <a:prstGeom prst="line">
            <a:avLst/>
          </a:prstGeom>
          <a:noFill/>
          <a:ln w="6350">
            <a:solidFill>
              <a:srgbClr val="E0DDD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457200" y="4607329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9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457  |  Discover Saudi Arabia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22960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41148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713232" y="41148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Side: Home Page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93268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9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 mode and night mode, toggled with one click</a:t>
            </a:r>
            <a:endParaRPr lang="en-US" sz="1300" dirty="0"/>
          </a:p>
        </p:txBody>
      </p:sp>
      <p:pic>
        <p:nvPicPr>
          <p:cNvPr id="5" name="Image 0" descr="/home/claude/slide_assets/home_norm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63040"/>
            <a:ext cx="4023360" cy="2240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73075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9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 mode (moon icon to toggle)</a:t>
            </a:r>
            <a:endParaRPr lang="en-US" sz="1100" dirty="0"/>
          </a:p>
        </p:txBody>
      </p:sp>
      <p:pic>
        <p:nvPicPr>
          <p:cNvPr id="7" name="Image 1" descr="/home/claude/slide_assets/home_n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463040"/>
            <a:ext cx="4023360" cy="22402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63440" y="373075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9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Night mode (sun icon to toggle back)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2086494" y="4227022"/>
            <a:ext cx="4971011" cy="27847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6"/>
          <p:cNvSpPr/>
          <p:nvPr/>
        </p:nvSpPr>
        <p:spPr>
          <a:xfrm>
            <a:off x="1895302" y="4107942"/>
            <a:ext cx="54448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Persisted via </a:t>
            </a:r>
            <a:r>
              <a:rPr lang="en-US" sz="1100" b="1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localStorage</a:t>
            </a:r>
            <a:r>
              <a:rPr lang="en-US" sz="1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  </a:t>
            </a:r>
            <a:r>
              <a:rPr lang="en-US" sz="1100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localStorage.setItem('nightMode', isNight)</a:t>
            </a:r>
            <a:r>
              <a:rPr lang="en-US" sz="1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57200" y="4732020"/>
            <a:ext cx="8229600" cy="0"/>
          </a:xfrm>
          <a:prstGeom prst="line">
            <a:avLst/>
          </a:prstGeom>
          <a:noFill/>
          <a:ln w="6350">
            <a:solidFill>
              <a:srgbClr val="E0DDD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8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9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457  |  Discover Saudi Arabia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822960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41148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713232" y="41148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Side: Regions Gallery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93268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9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filtering by name and category, with results counter</a:t>
            </a:r>
            <a:endParaRPr lang="en-US" sz="1300" dirty="0"/>
          </a:p>
        </p:txBody>
      </p:sp>
      <p:pic>
        <p:nvPicPr>
          <p:cNvPr id="5" name="Image 0" descr="/home/claude/slide_assets/galle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63040"/>
            <a:ext cx="5303520" cy="2971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89320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filtering works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892808"/>
            <a:ext cx="292608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800" y="187452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Free-text search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989320" y="22402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Reads the data-name attribute on each card and matches the typed query in real time.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320" y="2761488"/>
            <a:ext cx="292608" cy="29260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400800" y="274320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drop-down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5989320" y="31089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Filters cards by the data-category attribute (central, western, eastern, etc.).</a:t>
            </a:r>
            <a:endParaRPr lang="en-US" sz="1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0" y="3630168"/>
            <a:ext cx="292608" cy="29260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400800" y="361188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results counter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5989320" y="3977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Updates the visible card count after every keystroke and selection change.</a:t>
            </a:r>
            <a:endParaRPr lang="en-US" sz="1000" dirty="0"/>
          </a:p>
        </p:txBody>
      </p:sp>
      <p:sp>
        <p:nvSpPr>
          <p:cNvPr id="16" name="Shape 10"/>
          <p:cNvSpPr/>
          <p:nvPr/>
        </p:nvSpPr>
        <p:spPr>
          <a:xfrm>
            <a:off x="457200" y="4732020"/>
            <a:ext cx="8229600" cy="0"/>
          </a:xfrm>
          <a:prstGeom prst="line">
            <a:avLst/>
          </a:prstGeom>
          <a:noFill/>
          <a:ln w="6350">
            <a:solidFill>
              <a:srgbClr val="E0DDD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9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457  |  Discover Saudi Arabia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822960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41148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713232" y="41148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Side: Region Details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93268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9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region content rendered dynamically from the database</a:t>
            </a:r>
            <a:endParaRPr lang="en-US" sz="1300" dirty="0"/>
          </a:p>
        </p:txBody>
      </p:sp>
      <p:pic>
        <p:nvPicPr>
          <p:cNvPr id="5" name="Image 0" descr="/home/claude/slide_assets/detai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2926080" cy="3337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840480" y="14630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gets rendered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840480" y="1947672"/>
            <a:ext cx="73152" cy="201168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4023360" y="18745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Hero image</a:t>
            </a:r>
            <a:r>
              <a:rPr lang="en-US" sz="1200" dirty="0">
                <a:solidFill>
                  <a:srgbClr val="59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·  main image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840480" y="2331720"/>
            <a:ext cx="73152" cy="201168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4023360" y="225856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Description</a:t>
            </a:r>
            <a:r>
              <a:rPr lang="en-US" sz="1200" dirty="0">
                <a:solidFill>
                  <a:srgbClr val="59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·  narrative text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840480" y="2715768"/>
            <a:ext cx="73152" cy="201168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4023360" y="264261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Facts</a:t>
            </a:r>
            <a:r>
              <a:rPr lang="en-US" sz="1200" dirty="0">
                <a:solidFill>
                  <a:srgbClr val="59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·  bullet list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840480" y="3099816"/>
            <a:ext cx="73152" cy="201168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4023360" y="302666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landmarks</a:t>
            </a:r>
            <a:r>
              <a:rPr lang="en-US" sz="1200" dirty="0">
                <a:solidFill>
                  <a:srgbClr val="59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·  bullet list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840480" y="3483864"/>
            <a:ext cx="73152" cy="201168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4023360" y="341071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Activities</a:t>
            </a:r>
            <a:r>
              <a:rPr lang="en-US" sz="1200" dirty="0">
                <a:solidFill>
                  <a:srgbClr val="59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·  bullet list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840480" y="3867912"/>
            <a:ext cx="73152" cy="201168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4023360" y="37947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Climate</a:t>
            </a:r>
            <a:r>
              <a:rPr lang="en-US" sz="1200" dirty="0">
                <a:solidFill>
                  <a:srgbClr val="59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·  text box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840480" y="4251960"/>
            <a:ext cx="73152" cy="201168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4023360" y="417880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gallery</a:t>
            </a:r>
            <a:r>
              <a:rPr lang="en-US" sz="1200" dirty="0">
                <a:solidFill>
                  <a:srgbClr val="59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·  optional images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4732020"/>
            <a:ext cx="8229600" cy="0"/>
          </a:xfrm>
          <a:prstGeom prst="line">
            <a:avLst/>
          </a:prstGeom>
          <a:noFill/>
          <a:ln w="6350">
            <a:solidFill>
              <a:srgbClr val="E0DDD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9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457  |  Discover Saudi Arabia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22960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41148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713232" y="41148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Side: Login &amp; Sessions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93268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9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PDO prepared statement + bcrypt verification + PHP sessions</a:t>
            </a:r>
            <a:endParaRPr lang="en-US" sz="1300" dirty="0"/>
          </a:p>
        </p:txBody>
      </p:sp>
      <p:pic>
        <p:nvPicPr>
          <p:cNvPr id="5" name="Image 0" descr="/home/claude/slide_assets/admin_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63040"/>
            <a:ext cx="4206240" cy="2377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86791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9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Failed login: Error renders inside a soft alert.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892040" y="1463040"/>
            <a:ext cx="3794760" cy="2231967"/>
          </a:xfrm>
          <a:prstGeom prst="rect">
            <a:avLst/>
          </a:prstGeom>
          <a:solidFill>
            <a:srgbClr val="152848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>
            <a:off x="4892040" y="1463040"/>
            <a:ext cx="3794760" cy="38404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5029200" y="146304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 err="1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login.php</a:t>
            </a:r>
            <a:r>
              <a:rPr lang="en-US" sz="1100" i="1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056632" y="1920240"/>
            <a:ext cx="3520440" cy="1774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$stmt = $conn-&gt;</a:t>
            </a:r>
            <a:r>
              <a:rPr lang="en-US" sz="1050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prepare</a:t>
            </a:r>
            <a:r>
              <a:rPr lang="en-US" sz="1050" dirty="0">
                <a:solidFill>
                  <a:srgbClr val="C5D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("SELECT * FROM admins WHERE username = ?");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$stmt-&gt;</a:t>
            </a:r>
            <a:r>
              <a:rPr lang="en-US" sz="1050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</a:t>
            </a:r>
            <a:r>
              <a:rPr lang="en-US" sz="105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([$username]);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$admin = $stmt-&gt;fetch(PDO::FETCH_ASSOC);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($admin &amp;&amp; </a:t>
            </a:r>
            <a:r>
              <a:rPr lang="en-US" sz="1050" b="1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password_verify</a:t>
            </a:r>
            <a:r>
              <a:rPr lang="en-US" sz="105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($password,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$admin['password'])) {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$_SESSION['admin_id'] = $admin['id'];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header("Location: dashboard.php");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57200" y="4251960"/>
            <a:ext cx="2651760" cy="365760"/>
          </a:xfrm>
          <a:prstGeom prst="rect">
            <a:avLst/>
          </a:prstGeom>
          <a:solidFill>
            <a:srgbClr val="F4F1E8"/>
          </a:solidFill>
          <a:ln w="3810">
            <a:solidFill>
              <a:srgbClr val="E0DDD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32511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22960" y="4251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Parameterised query  →  no SQL injection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3246120" y="4251960"/>
            <a:ext cx="2182091" cy="365760"/>
          </a:xfrm>
          <a:prstGeom prst="rect">
            <a:avLst/>
          </a:prstGeom>
          <a:solidFill>
            <a:srgbClr val="F4F1E8"/>
          </a:solidFill>
          <a:ln w="3810">
            <a:solidFill>
              <a:srgbClr val="E0DDD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4325112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611880" y="4251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password_verify()  →  bcrypt safe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5565371" y="4251960"/>
            <a:ext cx="2182091" cy="365760"/>
          </a:xfrm>
          <a:prstGeom prst="rect">
            <a:avLst/>
          </a:prstGeom>
          <a:solidFill>
            <a:srgbClr val="F4F1E8"/>
          </a:solidFill>
          <a:ln w="3810">
            <a:solidFill>
              <a:srgbClr val="E0DDD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2704" y="4316799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922818" y="4251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auth.php on every protected page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457200" y="4732020"/>
            <a:ext cx="8229600" cy="0"/>
          </a:xfrm>
          <a:prstGeom prst="line">
            <a:avLst/>
          </a:prstGeom>
          <a:noFill/>
          <a:ln w="6350">
            <a:solidFill>
              <a:srgbClr val="E0DDD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5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9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457  |  Discover Saudi Arabia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822960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41148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713232" y="41148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Side: Dashboard &amp; CRUD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93268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9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Panel of regions records</a:t>
            </a:r>
            <a:endParaRPr lang="en-US" sz="1300" dirty="0"/>
          </a:p>
        </p:txBody>
      </p:sp>
      <p:pic>
        <p:nvPicPr>
          <p:cNvPr id="5" name="Image 0" descr="/home/claude/slide_assets/admin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63040"/>
            <a:ext cx="5303520" cy="2971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89320" y="1536192"/>
            <a:ext cx="73152" cy="50292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37960" y="14630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</a:t>
            </a:r>
            <a:r>
              <a:rPr lang="en-US" sz="1000" i="1" dirty="0">
                <a:solidFill>
                  <a:srgbClr val="A88C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add.php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172200" y="18288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 fields  →  upload images  →  INSERT  →  confirmation message + redirect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5989320" y="2249424"/>
            <a:ext cx="73152" cy="50292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2231136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537960" y="217627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</a:t>
            </a:r>
            <a:r>
              <a:rPr lang="en-US" sz="1000" i="1" dirty="0">
                <a:solidFill>
                  <a:srgbClr val="A88C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dashboard.php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6172200" y="25420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 check  →  SELECT * FROM regions  →  render table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5989320" y="2962656"/>
            <a:ext cx="73152" cy="50292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2944368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537960" y="288950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</a:t>
            </a:r>
            <a:r>
              <a:rPr lang="en-US" sz="1000" i="1" dirty="0">
                <a:solidFill>
                  <a:srgbClr val="A88C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update.php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6172200" y="325526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 record  →  pre-fill form  →  save image  →  UPDATE  →  confirmation message</a:t>
            </a:r>
            <a:endParaRPr lang="en-US" sz="900" dirty="0"/>
          </a:p>
        </p:txBody>
      </p:sp>
      <p:sp>
        <p:nvSpPr>
          <p:cNvPr id="18" name="Shape 12"/>
          <p:cNvSpPr/>
          <p:nvPr/>
        </p:nvSpPr>
        <p:spPr>
          <a:xfrm>
            <a:off x="5989320" y="3675888"/>
            <a:ext cx="73152" cy="50292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3657600"/>
            <a:ext cx="274320" cy="27432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537960" y="360273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</a:t>
            </a:r>
            <a:r>
              <a:rPr lang="en-US" sz="1000" i="1" dirty="0">
                <a:solidFill>
                  <a:srgbClr val="A88C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delete.php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6172200" y="396849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confirm()  →  unlink images  →  DELETE 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→  confirmation message + redirect</a:t>
            </a:r>
            <a:endParaRPr lang="en-US" sz="900" dirty="0"/>
          </a:p>
        </p:txBody>
      </p:sp>
      <p:sp>
        <p:nvSpPr>
          <p:cNvPr id="23" name="Shape 16"/>
          <p:cNvSpPr/>
          <p:nvPr/>
        </p:nvSpPr>
        <p:spPr>
          <a:xfrm>
            <a:off x="457200" y="4732020"/>
            <a:ext cx="8229600" cy="0"/>
          </a:xfrm>
          <a:prstGeom prst="line">
            <a:avLst/>
          </a:prstGeom>
          <a:noFill/>
          <a:ln w="6350">
            <a:solidFill>
              <a:srgbClr val="E0DDD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17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9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457  |  Discover Saudi Arabia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822960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41148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713232" y="41148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Side: Add and Update Forms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93268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9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uploads, image cleanup, JS confirmation before delete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Content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75564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88C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add.php</a:t>
            </a:r>
            <a:endParaRPr lang="en-US" sz="1000" dirty="0"/>
          </a:p>
        </p:txBody>
      </p:sp>
      <p:pic>
        <p:nvPicPr>
          <p:cNvPr id="7" name="Image 0" descr="/home/claude/slide_assets/admin_a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03120"/>
            <a:ext cx="2606040" cy="1463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3657600"/>
            <a:ext cx="2606040" cy="307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Required fields marked with *.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474720" y="14630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 Content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474720" y="175564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88C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update.php</a:t>
            </a:r>
            <a:endParaRPr lang="en-US" sz="1000" dirty="0"/>
          </a:p>
        </p:txBody>
      </p:sp>
      <p:pic>
        <p:nvPicPr>
          <p:cNvPr id="11" name="Image 1" descr="/home/claude/slide_assets/admin_upd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2103120"/>
            <a:ext cx="2606040" cy="1463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74720" y="36576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pre-filled from existing record.  If no new file is chosen, the old image filename is kept.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492240" y="1463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492240" y="17556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88C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delete.php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492240" y="2103120"/>
            <a:ext cx="2194560" cy="14630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6912" y="2240280"/>
            <a:ext cx="585216" cy="5852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92240" y="2880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confirm()  ✓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492240" y="3154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unlink() image files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500553" y="3602736"/>
            <a:ext cx="2194560" cy="571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 confirmation dialog before unlinking (deleting) the content from the database.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57200" y="4732020"/>
            <a:ext cx="8229600" cy="0"/>
          </a:xfrm>
          <a:prstGeom prst="line">
            <a:avLst/>
          </a:prstGeom>
          <a:noFill/>
          <a:ln w="6350">
            <a:solidFill>
              <a:srgbClr val="E0DDD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6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9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457  |  Discover Saudi Arabia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822960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771900"/>
            <a:ext cx="2286000" cy="2286000"/>
          </a:xfrm>
          <a:prstGeom prst="ellipse">
            <a:avLst/>
          </a:prstGeom>
          <a:solidFill>
            <a:srgbClr val="D4881F">
              <a:alpha val="20000"/>
            </a:srgbClr>
          </a:solidFill>
          <a:ln w="12700">
            <a:solidFill>
              <a:srgbClr val="D488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0" dirty="0">
                <a:solidFill>
                  <a:srgbClr val="E8A8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 Saudi Arabia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023360" y="1691640"/>
            <a:ext cx="1097280" cy="0"/>
          </a:xfrm>
          <a:prstGeom prst="line">
            <a:avLst/>
          </a:prstGeom>
          <a:noFill/>
          <a:ln w="19050">
            <a:solidFill>
              <a:srgbClr val="D488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2606040" y="2125980"/>
            <a:ext cx="3931920" cy="1691640"/>
          </a:xfrm>
          <a:prstGeom prst="rect">
            <a:avLst/>
          </a:prstGeom>
          <a:solidFill>
            <a:srgbClr val="3D2410">
              <a:alpha val="70000"/>
            </a:srgbClr>
          </a:solidFill>
          <a:ln w="9525">
            <a:solidFill>
              <a:srgbClr val="D488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23545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606040" y="27660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E8A8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URL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606040" y="30861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capstone.alshammarii.me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2606040" y="34975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DDD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(deployed on InfinityFree)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754880" y="306324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E8A8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DDD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and discussion welcomed.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Abdullah Alshammari  ·  CSC 457  ·  Dr. Sultan Alfarhood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777</Words>
  <Application>Microsoft Office PowerPoint</Application>
  <PresentationFormat>On-screen Show (16:9)</PresentationFormat>
  <Paragraphs>154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Discover Saudi Arabia - Course Project</dc:title>
  <dc:subject>PptxGenJS Presentation</dc:subject>
  <dc:creator>Abdullah Alshammari</dc:creator>
  <cp:lastModifiedBy>Abdullah Alshammari</cp:lastModifiedBy>
  <cp:revision>2</cp:revision>
  <dcterms:created xsi:type="dcterms:W3CDTF">2026-05-09T16:18:09Z</dcterms:created>
  <dcterms:modified xsi:type="dcterms:W3CDTF">2026-05-09T16:42:25Z</dcterms:modified>
</cp:coreProperties>
</file>